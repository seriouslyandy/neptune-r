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2575" y="0"/>
            <a:ext cx="1123950" cy="5143500"/>
          </a:xfrm>
          <a:prstGeom prst="rect">
            <a:avLst/>
          </a:prstGeom>
          <a:solidFill>
            <a:srgbClr val="0012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33638" y="0"/>
            <a:ext cx="1123950" cy="5143500"/>
          </a:xfrm>
          <a:prstGeom prst="rect">
            <a:avLst/>
          </a:prstGeom>
          <a:solidFill>
            <a:srgbClr val="0012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423863"/>
            <a:ext cx="9144000" cy="1347788"/>
          </a:xfrm>
          <a:prstGeom prst="rect">
            <a:avLst/>
          </a:prstGeom>
          <a:solidFill>
            <a:srgbClr val="0A2D94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423863"/>
            <a:ext cx="9144000" cy="15811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6875" y="0"/>
            <a:ext cx="3667125" cy="51435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3512" y="0"/>
            <a:ext cx="3462338" cy="51435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237" y="-95250"/>
            <a:ext cx="1100138" cy="514350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588" y="3448050"/>
            <a:ext cx="790692" cy="280562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636" y="3688556"/>
            <a:ext cx="746875" cy="80263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604963" y="547688"/>
            <a:ext cx="6172200" cy="1271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NEPTUNE-R​</a:t>
            </a:r>
            <a:endParaRPr lang="en-US" sz="3600" dirty="0"/>
          </a:p>
          <a:p>
            <a:pPr algn="ct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(Nautical Environmental Purification and Turbulence Unit for Natural Enrichment – Robot)​</a:t>
            </a:r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</a:t>
            </a:r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Solar-Powered Autonomous Oxygenizer HydroRover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0" y="0"/>
            <a:ext cx="116205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573371" cy="39243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0100" y="357188"/>
            <a:ext cx="6172200" cy="4591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endParaRPr lang="en-US" sz="3600" dirty="0"/>
          </a:p>
          <a:p>
            <a:pPr algn="l" indent="0" marL="0">
              <a:lnSpc>
                <a:spcPts val="3216"/>
              </a:lnSpc>
              <a:buNone/>
            </a:pPr>
            <a:r>
              <a:rPr lang="en-US" sz="2400" b="1" spc="-1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</a:t>
            </a:r>
            <a:pPr algn="l" indent="0" marL="0">
              <a:lnSpc>
                <a:spcPts val="3216"/>
              </a:lnSpc>
              <a:buNone/>
            </a:pPr>
            <a:r>
              <a:rPr lang="en-US" sz="2400" spc="-1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pPr algn="l" indent="0" marL="0">
              <a:lnSpc>
                <a:spcPts val="2010"/>
              </a:lnSpc>
              <a:buNone/>
            </a:pPr>
            <a:r>
              <a:rPr lang="en-US" sz="1500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36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</a:t>
            </a:r>
            <a:pPr algn="l" indent="0" marL="0">
              <a:lnSpc>
                <a:spcPts val="2010"/>
              </a:lnSpc>
              <a:buNone/>
            </a:pPr>
            <a:r>
              <a:rPr lang="en-US" sz="1500" b="1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oxygen</a:t>
            </a:r>
            <a:pPr algn="l" indent="0" marL="0">
              <a:lnSpc>
                <a:spcPts val="2010"/>
              </a:lnSpc>
              <a:buNone/>
            </a:pPr>
            <a:r>
              <a:rPr lang="en-US" sz="1500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(hypoxia) severely disrupts ecological balance and endangers </a:t>
            </a:r>
            <a:pPr algn="l" indent="0" marL="0">
              <a:lnSpc>
                <a:spcPts val="2010"/>
              </a:lnSpc>
              <a:buNone/>
            </a:pPr>
            <a:r>
              <a:rPr lang="en-US" sz="1500" b="1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aquatic life</a:t>
            </a:r>
            <a:pPr algn="l" indent="0" marL="0">
              <a:lnSpc>
                <a:spcPts val="2010"/>
              </a:lnSpc>
              <a:buNone/>
            </a:pPr>
            <a:r>
              <a:rPr lang="en-US" sz="1500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3600" dirty="0"/>
          </a:p>
          <a:p>
            <a:pPr algn="l" indent="0" marL="0">
              <a:lnSpc>
                <a:spcPts val="3216"/>
              </a:lnSpc>
              <a:buNone/>
            </a:pPr>
            <a:r>
              <a:rPr lang="en-US" sz="2400" b="1" spc="-1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</a:t>
            </a:r>
            <a:pPr algn="l" indent="0" marL="0">
              <a:lnSpc>
                <a:spcPts val="2010"/>
              </a:lnSpc>
              <a:buNone/>
            </a:pPr>
            <a:r>
              <a:rPr lang="en-US" sz="1500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3600" dirty="0"/>
          </a:p>
          <a:p>
            <a:pPr algn="l" indent="0" marL="0">
              <a:lnSpc>
                <a:spcPts val="2010"/>
              </a:lnSpc>
              <a:buNone/>
            </a:pPr>
            <a:r>
              <a:rPr lang="en-US" sz="1500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</a:t>
            </a:r>
            <a:pPr algn="l" indent="0" marL="0">
              <a:lnSpc>
                <a:spcPts val="2010"/>
              </a:lnSpc>
              <a:buNone/>
            </a:pPr>
            <a:r>
              <a:rPr lang="en-US" sz="1500" b="1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</a:t>
            </a:r>
            <a:pPr algn="l" indent="0" marL="0">
              <a:lnSpc>
                <a:spcPts val="2010"/>
              </a:lnSpc>
              <a:buNone/>
            </a:pPr>
            <a:r>
              <a:rPr lang="en-US" sz="1500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rover providing continuous </a:t>
            </a:r>
            <a:pPr algn="l" indent="0" marL="0">
              <a:lnSpc>
                <a:spcPts val="2010"/>
              </a:lnSpc>
              <a:buNone/>
            </a:pPr>
            <a:r>
              <a:rPr lang="en-US" sz="1500" b="1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oxygenation</a:t>
            </a:r>
            <a:pPr algn="l" indent="0" marL="0">
              <a:lnSpc>
                <a:spcPts val="2010"/>
              </a:lnSpc>
              <a:buNone/>
            </a:pPr>
            <a:r>
              <a:rPr lang="en-US" sz="1500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sustainably using </a:t>
            </a:r>
            <a:pPr algn="l" indent="0" marL="0">
              <a:lnSpc>
                <a:spcPts val="2010"/>
              </a:lnSpc>
              <a:buNone/>
            </a:pPr>
            <a:r>
              <a:rPr lang="en-US" sz="1500" b="1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solar power</a:t>
            </a:r>
            <a:pPr algn="l" indent="0" marL="0">
              <a:lnSpc>
                <a:spcPts val="2010"/>
              </a:lnSpc>
              <a:buNone/>
            </a:pPr>
            <a:r>
              <a:rPr lang="en-US" sz="1500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3600" dirty="0"/>
          </a:p>
          <a:p>
            <a:pPr algn="l" indent="0" marL="0">
              <a:lnSpc>
                <a:spcPts val="3216"/>
              </a:lnSpc>
              <a:buNone/>
            </a:pPr>
            <a:r>
              <a:rPr lang="en-US" sz="2400" b="1" spc="-1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Benefits:</a:t>
            </a:r>
            <a:endParaRPr lang="en-US" sz="3600" dirty="0"/>
          </a:p>
          <a:p>
            <a:pPr algn="l" marL="342900" indent="-342900">
              <a:lnSpc>
                <a:spcPts val="2010"/>
              </a:lnSpc>
              <a:buSzPct val="100000"/>
              <a:buChar char="•"/>
            </a:pPr>
            <a:r>
              <a:rPr lang="en-US" sz="1500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</a:t>
            </a:r>
            <a:pPr algn="l" indent="0" marL="0">
              <a:lnSpc>
                <a:spcPts val="2010"/>
              </a:lnSpc>
              <a:buNone/>
            </a:pPr>
            <a:r>
              <a:rPr lang="en-US" sz="1500" b="1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impact;</a:t>
            </a:r>
            <a:endParaRPr lang="en-US" sz="3600" dirty="0"/>
          </a:p>
          <a:p>
            <a:pPr algn="l" marL="342900" indent="-342900">
              <a:lnSpc>
                <a:spcPts val="2010"/>
              </a:lnSpc>
              <a:buSzPct val="100000"/>
              <a:buChar char="•"/>
            </a:pPr>
            <a:r>
              <a:rPr lang="en-US" sz="1500" b="1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Energy-efficient</a:t>
            </a:r>
            <a:pPr algn="l" indent="0" marL="0">
              <a:lnSpc>
                <a:spcPts val="2010"/>
              </a:lnSpc>
              <a:buNone/>
            </a:pPr>
            <a:r>
              <a:rPr lang="en-US" sz="1500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</a:t>
            </a:r>
            <a:endParaRPr lang="en-US" sz="3600" dirty="0"/>
          </a:p>
          <a:p>
            <a:pPr algn="l" marL="342900" indent="-342900">
              <a:lnSpc>
                <a:spcPts val="2010"/>
              </a:lnSpc>
              <a:buSzPct val="100000"/>
              <a:buChar char="•"/>
            </a:pPr>
            <a:r>
              <a:rPr lang="en-US" sz="1500" b="1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</a:t>
            </a:r>
            <a:pPr algn="l" indent="0" marL="0">
              <a:lnSpc>
                <a:spcPts val="2010"/>
              </a:lnSpc>
              <a:buNone/>
            </a:pPr>
            <a:r>
              <a:rPr lang="en-US" sz="1500" spc="-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operations.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413" y="2119313"/>
            <a:ext cx="3557588" cy="302418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4" y="1100138"/>
            <a:ext cx="446589" cy="38776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-919162"/>
            <a:ext cx="1524000" cy="20478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42888"/>
            <a:ext cx="762000" cy="1104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38" y="204788"/>
            <a:ext cx="1643063" cy="14859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00100" y="114300"/>
            <a:ext cx="6172200" cy="1095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MATLAB Simulation Overview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638175" y="1481138"/>
            <a:ext cx="8367712" cy="2200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endParaRPr lang="en-US" sz="180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modeling and testing of the rover's trajectory and oxygenation efficiency.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Methods:</a:t>
            </a:r>
            <a:endParaRPr lang="en-US" sz="1800" dirty="0"/>
          </a:p>
          <a:p>
            <a:pPr algn="l" lvl="1" marL="685800" indent="-342900">
              <a:lnSpc>
                <a:spcPts val="1782"/>
              </a:lnSpc>
              <a:buSzPct val="100000"/>
              <a:buChar char="•"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Euler’s method</a:t>
            </a:r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</a:t>
            </a:r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laws</a:t>
            </a:r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00" dirty="0"/>
          </a:p>
          <a:p>
            <a:pPr algn="l" lvl="1" marL="685800" indent="-342900">
              <a:lnSpc>
                <a:spcPts val="1782"/>
              </a:lnSpc>
              <a:buSzPct val="100000"/>
              <a:buChar char="•"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</a:t>
            </a:r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rover </a:t>
            </a:r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trajectory</a:t>
            </a:r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water surface using </a:t>
            </a:r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Archimedean spiral</a:t>
            </a:r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Boustrophedon</a:t>
            </a:r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coverage.</a:t>
            </a:r>
            <a:endParaRPr lang="en-US" sz="1800" dirty="0"/>
          </a:p>
          <a:p>
            <a:pPr algn="l" lvl="1" marL="685800" indent="-342900">
              <a:lnSpc>
                <a:spcPts val="1782"/>
              </a:lnSpc>
              <a:buSzPct val="100000"/>
              <a:buChar char="•"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Shore</a:t>
            </a:r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</a:t>
            </a:r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island/object</a:t>
            </a:r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avoidance incorporated into simulation.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Visuals: </a:t>
            </a:r>
            <a:endParaRPr lang="en-US" sz="180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 of MATLAB plots illustrating trajectory paths and oxygenation points.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1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693866" cy="327298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166813"/>
            <a:ext cx="4624388" cy="368141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-2600325"/>
            <a:ext cx="2905125" cy="116585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038" y="1166813"/>
            <a:ext cx="4624388" cy="368141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7675" y="2628900"/>
            <a:ext cx="538163" cy="28056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919288" y="-9525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 &amp; island projection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374" y="2119313"/>
            <a:ext cx="2562458" cy="269855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609600"/>
            <a:ext cx="4429125" cy="47910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4419600"/>
            <a:ext cx="2438400" cy="723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95525" y="-2028825"/>
            <a:ext cx="383149" cy="173935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466975" y="-1647825"/>
            <a:ext cx="211699" cy="212035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038" y="1166813"/>
            <a:ext cx="4624388" cy="368141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7675" y="2628900"/>
            <a:ext cx="538163" cy="28056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1686" y="-38100"/>
            <a:ext cx="3262313" cy="53583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919288" y="-9525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finder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0" y="-9525"/>
            <a:ext cx="1162050" cy="51339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76325"/>
            <a:ext cx="4914900" cy="372903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3" y="538058"/>
            <a:ext cx="499546" cy="421969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" y="1219200"/>
            <a:ext cx="4772025" cy="34432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819275" y="-9525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simulation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657225" y="757238"/>
            <a:ext cx="3890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Parameters + O2 values</a:t>
            </a:r>
            <a:endParaRPr lang="en-US" sz="1350" dirty="0"/>
          </a:p>
        </p:txBody>
      </p:sp>
      <p:sp>
        <p:nvSpPr>
          <p:cNvPr id="8" name="Text 2"/>
          <p:cNvSpPr/>
          <p:nvPr/>
        </p:nvSpPr>
        <p:spPr>
          <a:xfrm>
            <a:off x="4929188" y="757238"/>
            <a:ext cx="3890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Shore + island avoidance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1025" y="3833813"/>
            <a:ext cx="544585" cy="29603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-9525"/>
            <a:ext cx="1162050" cy="51339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3" y="538058"/>
            <a:ext cx="499546" cy="421969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025" y="2443163"/>
            <a:ext cx="538163" cy="28056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488" y="1585913"/>
            <a:ext cx="652323" cy="28290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" y="1228725"/>
            <a:ext cx="4772025" cy="14763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2043113"/>
            <a:ext cx="4772025" cy="1562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" y="3414713"/>
            <a:ext cx="4772025" cy="196691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38" y="1462088"/>
            <a:ext cx="4614863" cy="3519488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4067175" y="952500"/>
            <a:ext cx="6172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NEPTUNE-R’s route</a:t>
            </a:r>
            <a:endParaRPr lang="en-US" sz="2250" dirty="0"/>
          </a:p>
        </p:txBody>
      </p:sp>
      <p:sp>
        <p:nvSpPr>
          <p:cNvPr id="12" name="Text 1"/>
          <p:cNvSpPr/>
          <p:nvPr/>
        </p:nvSpPr>
        <p:spPr>
          <a:xfrm>
            <a:off x="657225" y="438150"/>
            <a:ext cx="3890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Euler integration</a:t>
            </a:r>
            <a:endParaRPr lang="en-US" sz="1350" dirty="0"/>
          </a:p>
        </p:txBody>
      </p:sp>
      <p:sp>
        <p:nvSpPr>
          <p:cNvPr id="13" name="Text 2"/>
          <p:cNvSpPr/>
          <p:nvPr/>
        </p:nvSpPr>
        <p:spPr>
          <a:xfrm>
            <a:off x="657225" y="623888"/>
            <a:ext cx="3890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350" dirty="0"/>
          </a:p>
        </p:txBody>
      </p:sp>
      <p:sp>
        <p:nvSpPr>
          <p:cNvPr id="14" name="Text 3"/>
          <p:cNvSpPr/>
          <p:nvPr/>
        </p:nvSpPr>
        <p:spPr>
          <a:xfrm>
            <a:off x="657225" y="838200"/>
            <a:ext cx="3890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Oxygen level calculation via saturation</a:t>
            </a:r>
            <a:endParaRPr lang="en-US" sz="1350" dirty="0"/>
          </a:p>
        </p:txBody>
      </p:sp>
      <p:sp>
        <p:nvSpPr>
          <p:cNvPr id="15" name="Text 4"/>
          <p:cNvSpPr/>
          <p:nvPr/>
        </p:nvSpPr>
        <p:spPr>
          <a:xfrm>
            <a:off x="657225" y="3014663"/>
            <a:ext cx="3890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shore collision checker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7675" y="2628900"/>
            <a:ext cx="538163" cy="28056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4374" y="2119313"/>
            <a:ext cx="2562458" cy="269855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1466850"/>
            <a:ext cx="4429125" cy="308133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4419600"/>
            <a:ext cx="2438400" cy="723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95525" y="-2028825"/>
            <a:ext cx="383149" cy="173935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466975" y="-1647825"/>
            <a:ext cx="211699" cy="212035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6325" y="942975"/>
            <a:ext cx="4624388" cy="412908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1691" y="-38100"/>
            <a:ext cx="3262313" cy="53583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714500" y="395288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Archimedean spiral</a:t>
            </a:r>
            <a:endParaRPr lang="en-US" sz="3600" dirty="0"/>
          </a:p>
        </p:txBody>
      </p:sp>
      <p:sp>
        <p:nvSpPr>
          <p:cNvPr id="11" name="Text 1"/>
          <p:cNvSpPr/>
          <p:nvPr/>
        </p:nvSpPr>
        <p:spPr>
          <a:xfrm>
            <a:off x="704850" y="1090613"/>
            <a:ext cx="3890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 for circular lakes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38313"/>
            <a:ext cx="280550" cy="7384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4374" y="2119313"/>
            <a:ext cx="2562458" cy="269855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4419600"/>
            <a:ext cx="2438400" cy="723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95525" y="-2028825"/>
            <a:ext cx="383149" cy="173935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466975" y="-1647825"/>
            <a:ext cx="211699" cy="212035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691" y="-38100"/>
            <a:ext cx="3262313" cy="53583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013" y="2571750"/>
            <a:ext cx="2847975" cy="282892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714500" y="590550"/>
            <a:ext cx="6172200" cy="1095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of Real-time</a:t>
            </a:r>
            <a:endParaRPr lang="en-US" sz="3600" dirty="0"/>
          </a:p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3863"/>
            <a:ext cx="9144000" cy="1347788"/>
          </a:xfrm>
          <a:prstGeom prst="rect">
            <a:avLst/>
          </a:prstGeom>
          <a:solidFill>
            <a:srgbClr val="0A2D94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7637" y="-47625"/>
            <a:ext cx="9525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863" y="-47625"/>
            <a:ext cx="1100138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04963" y="547688"/>
            <a:ext cx="6172200" cy="1095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attention!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1757363" y="4457700"/>
            <a:ext cx="60864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directed by IONELA MIHAELA CONSTANTIN​</a:t>
            </a:r>
            <a:endParaRPr lang="en-US" sz="1350" dirty="0"/>
          </a:p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Mihnea Girbacica &amp; Mitran Andrei [Group 1221EA]​</a:t>
            </a:r>
            <a:endParaRPr lang="en-US" sz="1350" dirty="0"/>
          </a:p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2025-05-26T07:10:43Z</dcterms:created>
  <dcterms:modified xsi:type="dcterms:W3CDTF">2025-05-26T07:10:43Z</dcterms:modified>
</cp:coreProperties>
</file>